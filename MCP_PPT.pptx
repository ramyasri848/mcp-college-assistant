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8EE9F-A126-614E-1CC5-991E42F2D5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6C396B-1E1D-0BA5-0303-65833D6F30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E3D56A-FB66-C7D6-8DBA-31E253D92E93}"/>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5" name="Footer Placeholder 4">
            <a:extLst>
              <a:ext uri="{FF2B5EF4-FFF2-40B4-BE49-F238E27FC236}">
                <a16:creationId xmlns:a16="http://schemas.microsoft.com/office/drawing/2014/main" id="{DB24357A-1655-27EA-EB34-B2D550F77B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C31C59-2827-2ACA-F7CA-0A8266C2A7BD}"/>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1072215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77B3A-57B3-4835-3726-C044F4AF07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930BEE-FB52-A3D8-6FB0-54A7DDC8BC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BE743E-5B78-5BEA-5DA6-4634A0D0CEE2}"/>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5" name="Footer Placeholder 4">
            <a:extLst>
              <a:ext uri="{FF2B5EF4-FFF2-40B4-BE49-F238E27FC236}">
                <a16:creationId xmlns:a16="http://schemas.microsoft.com/office/drawing/2014/main" id="{3AB2DBC7-68D0-6BAE-E615-9C6916E39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9E2A59-6239-9A75-25B1-D8CCBD202ACF}"/>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412839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B9935-3B5B-BACF-BC57-79A714FE63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B94924-104E-6B8B-1B05-628F07DBB2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20D38C-8B56-FEBD-5407-D9BE99F7F13C}"/>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5" name="Footer Placeholder 4">
            <a:extLst>
              <a:ext uri="{FF2B5EF4-FFF2-40B4-BE49-F238E27FC236}">
                <a16:creationId xmlns:a16="http://schemas.microsoft.com/office/drawing/2014/main" id="{598B2E7C-6E4C-CC0A-10D1-E4C2C35ECD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B7ED33-051C-81D6-43CC-A4E76064E3FD}"/>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3202018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661D-6144-FBE1-8C5A-2282CEB5D5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F16DFF-D147-B0AE-6217-A07E437C2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9FD17E-0477-430D-9CC0-DC90FB4A13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8F77659-F455-0E2F-E6EC-293813BD280B}"/>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6" name="Footer Placeholder 5">
            <a:extLst>
              <a:ext uri="{FF2B5EF4-FFF2-40B4-BE49-F238E27FC236}">
                <a16:creationId xmlns:a16="http://schemas.microsoft.com/office/drawing/2014/main" id="{AD715154-655F-64ED-DEA1-E94B86CA5A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FFBD90-BFE2-DE55-1BEB-51881AB2F8EF}"/>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1663315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9431-88F2-A6B5-A74F-8B24847D0B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1B6174-B4A4-EA06-E7E7-2D9FE15F1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F25D8E-DD08-7FA2-7F6B-2FDBDAF8D4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CAB51C0-8DB8-895A-F235-DAFB32D4F9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B43798-342A-ACF2-F54B-64861D6E99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361FFF-1446-8C81-5A1D-DEB81728B8B4}"/>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8" name="Footer Placeholder 7">
            <a:extLst>
              <a:ext uri="{FF2B5EF4-FFF2-40B4-BE49-F238E27FC236}">
                <a16:creationId xmlns:a16="http://schemas.microsoft.com/office/drawing/2014/main" id="{4CAF9A52-350D-BF46-8C24-67CD9C5E17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93FA18-8D3D-3D09-AE55-29A83958EB8D}"/>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24042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DABA4-DF38-E7CD-E203-420D4B986B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D18DC7C-F72E-4B72-B302-4A7D9BB13246}"/>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4" name="Footer Placeholder 3">
            <a:extLst>
              <a:ext uri="{FF2B5EF4-FFF2-40B4-BE49-F238E27FC236}">
                <a16:creationId xmlns:a16="http://schemas.microsoft.com/office/drawing/2014/main" id="{38545592-8891-325C-67A5-4AD424F069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444B385-A855-F434-31BF-3A677F0B5614}"/>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355249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64510C-B1ED-3448-904D-8434EBEBC198}"/>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3" name="Footer Placeholder 2">
            <a:extLst>
              <a:ext uri="{FF2B5EF4-FFF2-40B4-BE49-F238E27FC236}">
                <a16:creationId xmlns:a16="http://schemas.microsoft.com/office/drawing/2014/main" id="{CD205402-7643-985C-54DD-270C85678C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3EE78D-618E-2DA1-810A-C240763595D8}"/>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3804268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2D865-F11C-1B58-EB0E-AE5632DC6D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5D202B-4A98-3C87-02C1-03ED648DA7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C4A0FE-B98A-5A2A-2ED9-17F53E824C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25FB1-51A0-3A08-857B-CCA71C61DCAA}"/>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6" name="Footer Placeholder 5">
            <a:extLst>
              <a:ext uri="{FF2B5EF4-FFF2-40B4-BE49-F238E27FC236}">
                <a16:creationId xmlns:a16="http://schemas.microsoft.com/office/drawing/2014/main" id="{7B9606F6-2E07-0A97-1419-9EFDF4288B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22DE49-F572-6506-AC0C-757529FF5F81}"/>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1342743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F8FE-5F54-21BC-CA80-A00C58CB8F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E1D1FF-DFFF-C141-4483-42F7D3E2FE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21D3FC-EF4E-DA39-9AD3-8F6794BA5B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6F599E-CB8C-10D0-D924-395756621EA1}"/>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6" name="Footer Placeholder 5">
            <a:extLst>
              <a:ext uri="{FF2B5EF4-FFF2-40B4-BE49-F238E27FC236}">
                <a16:creationId xmlns:a16="http://schemas.microsoft.com/office/drawing/2014/main" id="{DB2FFFB0-5A7E-E276-0694-ED319C71D4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4D2C03-51D0-197A-671E-F555B587E5A2}"/>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58069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413AE-A045-669D-4686-40581E91E3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3C6AA9-5696-0D91-F823-90D41A3215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1B6226-2B68-2A6A-8566-646A26EE4017}"/>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5" name="Footer Placeholder 4">
            <a:extLst>
              <a:ext uri="{FF2B5EF4-FFF2-40B4-BE49-F238E27FC236}">
                <a16:creationId xmlns:a16="http://schemas.microsoft.com/office/drawing/2014/main" id="{D2F231F9-6DAB-7F5D-AEB6-FD5F4D8280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D5FA05-1493-B59C-B0BD-391AA094DDAC}"/>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336690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0ECFE-5A56-AEC5-0035-2E7DF623D8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F9F85E-61D2-499C-1FF2-661EDBB408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693E12-FD67-6CED-CF93-BFCD0EA6EDA3}"/>
              </a:ext>
            </a:extLst>
          </p:cNvPr>
          <p:cNvSpPr>
            <a:spLocks noGrp="1"/>
          </p:cNvSpPr>
          <p:nvPr>
            <p:ph type="dt" sz="half" idx="10"/>
          </p:nvPr>
        </p:nvSpPr>
        <p:spPr/>
        <p:txBody>
          <a:bodyPr/>
          <a:lstStyle/>
          <a:p>
            <a:fld id="{EAC0B2DD-B515-4EEE-936C-520B185EF152}" type="datetimeFigureOut">
              <a:rPr lang="en-IN" smtClean="0"/>
              <a:t>25-09-2026</a:t>
            </a:fld>
            <a:endParaRPr lang="en-IN"/>
          </a:p>
        </p:txBody>
      </p:sp>
      <p:sp>
        <p:nvSpPr>
          <p:cNvPr id="5" name="Footer Placeholder 4">
            <a:extLst>
              <a:ext uri="{FF2B5EF4-FFF2-40B4-BE49-F238E27FC236}">
                <a16:creationId xmlns:a16="http://schemas.microsoft.com/office/drawing/2014/main" id="{8D31C506-C166-34B0-2A2C-AFD03FC2CF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6A35F3-CA61-6060-916A-0B2E6C6C44B4}"/>
              </a:ext>
            </a:extLst>
          </p:cNvPr>
          <p:cNvSpPr>
            <a:spLocks noGrp="1"/>
          </p:cNvSpPr>
          <p:nvPr>
            <p:ph type="sldNum" sz="quarter" idx="12"/>
          </p:nvPr>
        </p:nvSpPr>
        <p:spPr/>
        <p:txBody>
          <a:bodyPr/>
          <a:lstStyle/>
          <a:p>
            <a:fld id="{B932DE90-2175-4095-A809-3AEF686C0313}" type="slidenum">
              <a:rPr lang="en-IN" smtClean="0"/>
              <a:t>‹#›</a:t>
            </a:fld>
            <a:endParaRPr lang="en-IN"/>
          </a:p>
        </p:txBody>
      </p:sp>
    </p:spTree>
    <p:extLst>
      <p:ext uri="{BB962C8B-B14F-4D97-AF65-F5344CB8AC3E}">
        <p14:creationId xmlns:p14="http://schemas.microsoft.com/office/powerpoint/2010/main" val="4122463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EE236A-4022-AE74-46E0-4CA2368335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05ED95-7681-5B44-6D73-42A7C44C10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12B2A1-49CC-872F-341D-1880E3BC8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C0B2DD-B515-4EEE-936C-520B185EF152}" type="datetimeFigureOut">
              <a:rPr lang="en-IN" smtClean="0"/>
              <a:t>25-09-2026</a:t>
            </a:fld>
            <a:endParaRPr lang="en-IN"/>
          </a:p>
        </p:txBody>
      </p:sp>
      <p:sp>
        <p:nvSpPr>
          <p:cNvPr id="5" name="Footer Placeholder 4">
            <a:extLst>
              <a:ext uri="{FF2B5EF4-FFF2-40B4-BE49-F238E27FC236}">
                <a16:creationId xmlns:a16="http://schemas.microsoft.com/office/drawing/2014/main" id="{03999974-F3B7-A36F-62B0-B3BDDEB73F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9900057-52E1-FF09-F655-42E78ECD77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32DE90-2175-4095-A809-3AEF686C0313}" type="slidenum">
              <a:rPr lang="en-IN" smtClean="0"/>
              <a:t>‹#›</a:t>
            </a:fld>
            <a:endParaRPr lang="en-IN"/>
          </a:p>
        </p:txBody>
      </p:sp>
    </p:spTree>
    <p:extLst>
      <p:ext uri="{BB962C8B-B14F-4D97-AF65-F5344CB8AC3E}">
        <p14:creationId xmlns:p14="http://schemas.microsoft.com/office/powerpoint/2010/main" val="1220483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586F-FC35-1006-0680-D2FB5C0412CF}"/>
              </a:ext>
            </a:extLst>
          </p:cNvPr>
          <p:cNvSpPr>
            <a:spLocks noGrp="1"/>
          </p:cNvSpPr>
          <p:nvPr>
            <p:ph type="ctrTitle"/>
          </p:nvPr>
        </p:nvSpPr>
        <p:spPr/>
        <p:txBody>
          <a:bodyPr/>
          <a:lstStyle/>
          <a:p>
            <a:r>
              <a:rPr lang="en-US" dirty="0"/>
              <a:t>MCP</a:t>
            </a:r>
            <a:endParaRPr lang="en-IN" dirty="0"/>
          </a:p>
        </p:txBody>
      </p:sp>
      <p:sp>
        <p:nvSpPr>
          <p:cNvPr id="3" name="Subtitle 2">
            <a:extLst>
              <a:ext uri="{FF2B5EF4-FFF2-40B4-BE49-F238E27FC236}">
                <a16:creationId xmlns:a16="http://schemas.microsoft.com/office/drawing/2014/main" id="{4CC97785-9A86-77D4-8FCB-C4B129755870}"/>
              </a:ext>
            </a:extLst>
          </p:cNvPr>
          <p:cNvSpPr>
            <a:spLocks noGrp="1"/>
          </p:cNvSpPr>
          <p:nvPr>
            <p:ph type="subTitle" idx="1"/>
          </p:nvPr>
        </p:nvSpPr>
        <p:spPr/>
        <p:txBody>
          <a:bodyPr/>
          <a:lstStyle/>
          <a:p>
            <a:r>
              <a:rPr lang="en-US" dirty="0"/>
              <a:t>RAMYASRI KURAKULA</a:t>
            </a:r>
            <a:endParaRPr lang="en-IN" dirty="0"/>
          </a:p>
        </p:txBody>
      </p:sp>
    </p:spTree>
    <p:extLst>
      <p:ext uri="{BB962C8B-B14F-4D97-AF65-F5344CB8AC3E}">
        <p14:creationId xmlns:p14="http://schemas.microsoft.com/office/powerpoint/2010/main" val="167518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56173A-71F3-705B-3871-62920F539D32}"/>
              </a:ext>
            </a:extLst>
          </p:cNvPr>
          <p:cNvSpPr txBox="1"/>
          <p:nvPr/>
        </p:nvSpPr>
        <p:spPr>
          <a:xfrm>
            <a:off x="796413" y="796413"/>
            <a:ext cx="10785987" cy="923330"/>
          </a:xfrm>
          <a:prstGeom prst="rect">
            <a:avLst/>
          </a:prstGeom>
          <a:noFill/>
        </p:spPr>
        <p:txBody>
          <a:bodyPr wrap="square" rtlCol="0">
            <a:spAutoFit/>
          </a:bodyPr>
          <a:lstStyle/>
          <a:p>
            <a:r>
              <a:rPr lang="en-IN" dirty="0"/>
              <a:t> Let us first understand what problem an MCP solves. Right now if you want an AI chat to your cloud to interact with your database, Slack, or GitHub, you have to manually build a custom integration for each one. MCP is a universal adapter. All of the custom integrations will be replaced by the MCP layer.</a:t>
            </a:r>
            <a:endParaRPr lang="en-IN" sz="1400" dirty="0"/>
          </a:p>
        </p:txBody>
      </p:sp>
      <p:pic>
        <p:nvPicPr>
          <p:cNvPr id="4" name="Picture 3">
            <a:extLst>
              <a:ext uri="{FF2B5EF4-FFF2-40B4-BE49-F238E27FC236}">
                <a16:creationId xmlns:a16="http://schemas.microsoft.com/office/drawing/2014/main" id="{01CEC4F3-4E5C-EDE4-FCEC-7782E78E9422}"/>
              </a:ext>
            </a:extLst>
          </p:cNvPr>
          <p:cNvPicPr>
            <a:picLocks noChangeAspect="1"/>
          </p:cNvPicPr>
          <p:nvPr/>
        </p:nvPicPr>
        <p:blipFill>
          <a:blip r:embed="rId2"/>
          <a:stretch>
            <a:fillRect/>
          </a:stretch>
        </p:blipFill>
        <p:spPr>
          <a:xfrm>
            <a:off x="2411410" y="1984379"/>
            <a:ext cx="7369179" cy="3223539"/>
          </a:xfrm>
          <a:prstGeom prst="rect">
            <a:avLst/>
          </a:prstGeom>
        </p:spPr>
      </p:pic>
    </p:spTree>
    <p:extLst>
      <p:ext uri="{BB962C8B-B14F-4D97-AF65-F5344CB8AC3E}">
        <p14:creationId xmlns:p14="http://schemas.microsoft.com/office/powerpoint/2010/main" val="250169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B2B5B9-102F-F20A-636F-8AE2CEF0CD18}"/>
              </a:ext>
            </a:extLst>
          </p:cNvPr>
          <p:cNvPicPr>
            <a:picLocks noChangeAspect="1"/>
          </p:cNvPicPr>
          <p:nvPr/>
        </p:nvPicPr>
        <p:blipFill>
          <a:blip r:embed="rId2"/>
          <a:stretch>
            <a:fillRect/>
          </a:stretch>
        </p:blipFill>
        <p:spPr>
          <a:xfrm>
            <a:off x="3407957" y="244256"/>
            <a:ext cx="4465668" cy="2302300"/>
          </a:xfrm>
          <a:prstGeom prst="rect">
            <a:avLst/>
          </a:prstGeom>
        </p:spPr>
      </p:pic>
      <p:sp>
        <p:nvSpPr>
          <p:cNvPr id="4" name="TextBox 3">
            <a:extLst>
              <a:ext uri="{FF2B5EF4-FFF2-40B4-BE49-F238E27FC236}">
                <a16:creationId xmlns:a16="http://schemas.microsoft.com/office/drawing/2014/main" id="{A4ACA7B9-0ADB-42DA-D62F-C35B13CFBEFD}"/>
              </a:ext>
            </a:extLst>
          </p:cNvPr>
          <p:cNvSpPr txBox="1"/>
          <p:nvPr/>
        </p:nvSpPr>
        <p:spPr>
          <a:xfrm>
            <a:off x="275303" y="2859613"/>
            <a:ext cx="11454581" cy="1138773"/>
          </a:xfrm>
          <a:prstGeom prst="rect">
            <a:avLst/>
          </a:prstGeom>
          <a:noFill/>
        </p:spPr>
        <p:txBody>
          <a:bodyPr wrap="square" rtlCol="0">
            <a:spAutoFit/>
          </a:bodyPr>
          <a:lstStyle/>
          <a:p>
            <a:r>
              <a:rPr lang="en-IN" dirty="0"/>
              <a:t>MCP stands for Model Context Protocol. Think of it like this: HTTP is a protocol that lets your browser talk to your server whereas MCP is the protocol that lets your AI model talk to your tools, data, and services. Same idea, but completely different layer.</a:t>
            </a:r>
            <a:br>
              <a:rPr lang="en-IN" sz="1400" dirty="0"/>
            </a:br>
            <a:endParaRPr lang="en-IN" sz="1400" dirty="0"/>
          </a:p>
        </p:txBody>
      </p:sp>
      <p:sp>
        <p:nvSpPr>
          <p:cNvPr id="6" name="TextBox 5">
            <a:extLst>
              <a:ext uri="{FF2B5EF4-FFF2-40B4-BE49-F238E27FC236}">
                <a16:creationId xmlns:a16="http://schemas.microsoft.com/office/drawing/2014/main" id="{A36D10D4-8B0F-4683-1388-B4E2EB79A92C}"/>
              </a:ext>
            </a:extLst>
          </p:cNvPr>
          <p:cNvSpPr txBox="1"/>
          <p:nvPr/>
        </p:nvSpPr>
        <p:spPr>
          <a:xfrm>
            <a:off x="275303" y="3998386"/>
            <a:ext cx="11051458" cy="1200329"/>
          </a:xfrm>
          <a:prstGeom prst="rect">
            <a:avLst/>
          </a:prstGeom>
          <a:noFill/>
        </p:spPr>
        <p:txBody>
          <a:bodyPr wrap="square" rtlCol="0">
            <a:spAutoFit/>
          </a:bodyPr>
          <a:lstStyle/>
          <a:p>
            <a:r>
              <a:rPr lang="en-IN" dirty="0"/>
              <a:t> let us understand how MCP is different than a REST API:</a:t>
            </a:r>
          </a:p>
          <a:p>
            <a:r>
              <a:rPr lang="en-IN" dirty="0"/>
              <a:t> A REST API is a contrast: you call an endpoint and you get a response, whereas MCP is a conversation. The AI model tells the MCP server what exactly it wants. The server exposes tools, resources, and prompts and the AI decides which tool to use, what order, everything, automatically.</a:t>
            </a:r>
            <a:endParaRPr lang="en-IN" sz="1400" dirty="0"/>
          </a:p>
        </p:txBody>
      </p:sp>
    </p:spTree>
    <p:extLst>
      <p:ext uri="{BB962C8B-B14F-4D97-AF65-F5344CB8AC3E}">
        <p14:creationId xmlns:p14="http://schemas.microsoft.com/office/powerpoint/2010/main" val="3983470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9BB7B1-03FD-42F1-22E2-BE62E0E0A8B5}"/>
              </a:ext>
            </a:extLst>
          </p:cNvPr>
          <p:cNvSpPr txBox="1"/>
          <p:nvPr/>
        </p:nvSpPr>
        <p:spPr>
          <a:xfrm>
            <a:off x="875071" y="383458"/>
            <a:ext cx="2163990" cy="369332"/>
          </a:xfrm>
          <a:prstGeom prst="rect">
            <a:avLst/>
          </a:prstGeom>
          <a:noFill/>
        </p:spPr>
        <p:txBody>
          <a:bodyPr wrap="none" rtlCol="0">
            <a:spAutoFit/>
          </a:bodyPr>
          <a:lstStyle/>
          <a:p>
            <a:r>
              <a:rPr lang="en-US" dirty="0"/>
              <a:t>MCP ARCHITECTURE:</a:t>
            </a:r>
            <a:endParaRPr lang="en-IN" dirty="0"/>
          </a:p>
        </p:txBody>
      </p:sp>
      <p:pic>
        <p:nvPicPr>
          <p:cNvPr id="4" name="Picture 3">
            <a:extLst>
              <a:ext uri="{FF2B5EF4-FFF2-40B4-BE49-F238E27FC236}">
                <a16:creationId xmlns:a16="http://schemas.microsoft.com/office/drawing/2014/main" id="{055241CE-7DCD-8535-CD84-EC6C40692C9B}"/>
              </a:ext>
            </a:extLst>
          </p:cNvPr>
          <p:cNvPicPr>
            <a:picLocks noChangeAspect="1"/>
          </p:cNvPicPr>
          <p:nvPr/>
        </p:nvPicPr>
        <p:blipFill>
          <a:blip r:embed="rId2"/>
          <a:stretch>
            <a:fillRect/>
          </a:stretch>
        </p:blipFill>
        <p:spPr>
          <a:xfrm>
            <a:off x="1080551" y="950607"/>
            <a:ext cx="1958510" cy="1996613"/>
          </a:xfrm>
          <a:prstGeom prst="rect">
            <a:avLst/>
          </a:prstGeom>
        </p:spPr>
      </p:pic>
      <p:sp>
        <p:nvSpPr>
          <p:cNvPr id="5" name="TextBox 4">
            <a:extLst>
              <a:ext uri="{FF2B5EF4-FFF2-40B4-BE49-F238E27FC236}">
                <a16:creationId xmlns:a16="http://schemas.microsoft.com/office/drawing/2014/main" id="{AE2EE877-10AE-2629-E0FD-6F02A3D75CA2}"/>
              </a:ext>
            </a:extLst>
          </p:cNvPr>
          <p:cNvSpPr txBox="1"/>
          <p:nvPr/>
        </p:nvSpPr>
        <p:spPr>
          <a:xfrm>
            <a:off x="5938684" y="383458"/>
            <a:ext cx="2745175" cy="369332"/>
          </a:xfrm>
          <a:prstGeom prst="rect">
            <a:avLst/>
          </a:prstGeom>
          <a:noFill/>
        </p:spPr>
        <p:txBody>
          <a:bodyPr wrap="none" rtlCol="0">
            <a:spAutoFit/>
          </a:bodyPr>
          <a:lstStyle/>
          <a:p>
            <a:r>
              <a:rPr lang="en-US" dirty="0"/>
              <a:t>CLIENT AND SERVER FLOW:</a:t>
            </a:r>
            <a:endParaRPr lang="en-IN" dirty="0"/>
          </a:p>
        </p:txBody>
      </p:sp>
      <p:pic>
        <p:nvPicPr>
          <p:cNvPr id="7" name="Picture 6">
            <a:extLst>
              <a:ext uri="{FF2B5EF4-FFF2-40B4-BE49-F238E27FC236}">
                <a16:creationId xmlns:a16="http://schemas.microsoft.com/office/drawing/2014/main" id="{1A5502A4-7A82-BC73-D397-EA1286DACF67}"/>
              </a:ext>
            </a:extLst>
          </p:cNvPr>
          <p:cNvPicPr>
            <a:picLocks noChangeAspect="1"/>
          </p:cNvPicPr>
          <p:nvPr/>
        </p:nvPicPr>
        <p:blipFill>
          <a:blip r:embed="rId3"/>
          <a:stretch>
            <a:fillRect/>
          </a:stretch>
        </p:blipFill>
        <p:spPr>
          <a:xfrm>
            <a:off x="6514858" y="880609"/>
            <a:ext cx="1592825" cy="2289396"/>
          </a:xfrm>
          <a:prstGeom prst="rect">
            <a:avLst/>
          </a:prstGeom>
        </p:spPr>
      </p:pic>
      <p:sp>
        <p:nvSpPr>
          <p:cNvPr id="8" name="TextBox 7">
            <a:extLst>
              <a:ext uri="{FF2B5EF4-FFF2-40B4-BE49-F238E27FC236}">
                <a16:creationId xmlns:a16="http://schemas.microsoft.com/office/drawing/2014/main" id="{949B3A14-F94F-46E5-687C-A39AADCB2224}"/>
              </a:ext>
            </a:extLst>
          </p:cNvPr>
          <p:cNvSpPr txBox="1"/>
          <p:nvPr/>
        </p:nvSpPr>
        <p:spPr>
          <a:xfrm>
            <a:off x="1300422" y="3613666"/>
            <a:ext cx="1441420" cy="369332"/>
          </a:xfrm>
          <a:prstGeom prst="rect">
            <a:avLst/>
          </a:prstGeom>
          <a:noFill/>
        </p:spPr>
        <p:txBody>
          <a:bodyPr wrap="none" rtlCol="0">
            <a:spAutoFit/>
          </a:bodyPr>
          <a:lstStyle/>
          <a:p>
            <a:r>
              <a:rPr lang="en-US" dirty="0"/>
              <a:t>MCP MODEL:</a:t>
            </a:r>
            <a:endParaRPr lang="en-IN" dirty="0"/>
          </a:p>
        </p:txBody>
      </p:sp>
      <p:pic>
        <p:nvPicPr>
          <p:cNvPr id="10" name="Picture 9">
            <a:extLst>
              <a:ext uri="{FF2B5EF4-FFF2-40B4-BE49-F238E27FC236}">
                <a16:creationId xmlns:a16="http://schemas.microsoft.com/office/drawing/2014/main" id="{9F51359F-24C4-1655-3955-77E84DED4C96}"/>
              </a:ext>
            </a:extLst>
          </p:cNvPr>
          <p:cNvPicPr>
            <a:picLocks noChangeAspect="1"/>
          </p:cNvPicPr>
          <p:nvPr/>
        </p:nvPicPr>
        <p:blipFill>
          <a:blip r:embed="rId4"/>
          <a:stretch>
            <a:fillRect/>
          </a:stretch>
        </p:blipFill>
        <p:spPr>
          <a:xfrm>
            <a:off x="2741842" y="3325615"/>
            <a:ext cx="2972058" cy="3353091"/>
          </a:xfrm>
          <a:prstGeom prst="rect">
            <a:avLst/>
          </a:prstGeom>
        </p:spPr>
      </p:pic>
      <p:pic>
        <p:nvPicPr>
          <p:cNvPr id="12" name="Picture 11">
            <a:extLst>
              <a:ext uri="{FF2B5EF4-FFF2-40B4-BE49-F238E27FC236}">
                <a16:creationId xmlns:a16="http://schemas.microsoft.com/office/drawing/2014/main" id="{41963CB6-5DB0-9DCD-FBEE-507B226C2E28}"/>
              </a:ext>
            </a:extLst>
          </p:cNvPr>
          <p:cNvPicPr>
            <a:picLocks noChangeAspect="1"/>
          </p:cNvPicPr>
          <p:nvPr/>
        </p:nvPicPr>
        <p:blipFill>
          <a:blip r:embed="rId5"/>
          <a:stretch>
            <a:fillRect/>
          </a:stretch>
        </p:blipFill>
        <p:spPr>
          <a:xfrm>
            <a:off x="8683859" y="3375888"/>
            <a:ext cx="2507651" cy="3252543"/>
          </a:xfrm>
          <a:prstGeom prst="rect">
            <a:avLst/>
          </a:prstGeom>
        </p:spPr>
      </p:pic>
      <p:sp>
        <p:nvSpPr>
          <p:cNvPr id="13" name="TextBox 12">
            <a:extLst>
              <a:ext uri="{FF2B5EF4-FFF2-40B4-BE49-F238E27FC236}">
                <a16:creationId xmlns:a16="http://schemas.microsoft.com/office/drawing/2014/main" id="{A37BB347-5E3B-5D1D-B5D9-62D45BE4D346}"/>
              </a:ext>
            </a:extLst>
          </p:cNvPr>
          <p:cNvSpPr txBox="1"/>
          <p:nvPr/>
        </p:nvSpPr>
        <p:spPr>
          <a:xfrm>
            <a:off x="6688441" y="4065950"/>
            <a:ext cx="1995418" cy="369332"/>
          </a:xfrm>
          <a:prstGeom prst="rect">
            <a:avLst/>
          </a:prstGeom>
          <a:noFill/>
        </p:spPr>
        <p:txBody>
          <a:bodyPr wrap="none" rtlCol="0">
            <a:spAutoFit/>
          </a:bodyPr>
          <a:lstStyle/>
          <a:p>
            <a:r>
              <a:rPr lang="en-US" dirty="0"/>
              <a:t>HOW MCP WORKS:</a:t>
            </a:r>
            <a:endParaRPr lang="en-IN" dirty="0"/>
          </a:p>
        </p:txBody>
      </p:sp>
    </p:spTree>
    <p:extLst>
      <p:ext uri="{BB962C8B-B14F-4D97-AF65-F5344CB8AC3E}">
        <p14:creationId xmlns:p14="http://schemas.microsoft.com/office/powerpoint/2010/main" val="2624433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BED526-C687-4653-36DF-FCFBD6C3315F}"/>
              </a:ext>
            </a:extLst>
          </p:cNvPr>
          <p:cNvSpPr txBox="1"/>
          <p:nvPr/>
        </p:nvSpPr>
        <p:spPr>
          <a:xfrm>
            <a:off x="1061884" y="412955"/>
            <a:ext cx="3472554" cy="369332"/>
          </a:xfrm>
          <a:prstGeom prst="rect">
            <a:avLst/>
          </a:prstGeom>
          <a:noFill/>
        </p:spPr>
        <p:txBody>
          <a:bodyPr wrap="none" rtlCol="0">
            <a:spAutoFit/>
          </a:bodyPr>
          <a:lstStyle/>
          <a:p>
            <a:r>
              <a:rPr lang="en-US" dirty="0"/>
              <a:t>TOOLS RESOURCES AND PROMPTS:</a:t>
            </a:r>
            <a:endParaRPr lang="en-IN" dirty="0"/>
          </a:p>
        </p:txBody>
      </p:sp>
      <p:sp>
        <p:nvSpPr>
          <p:cNvPr id="4" name="TextBox 3">
            <a:extLst>
              <a:ext uri="{FF2B5EF4-FFF2-40B4-BE49-F238E27FC236}">
                <a16:creationId xmlns:a16="http://schemas.microsoft.com/office/drawing/2014/main" id="{E9DAE751-B5A5-07ED-FCE3-44CD1B2B8FC9}"/>
              </a:ext>
            </a:extLst>
          </p:cNvPr>
          <p:cNvSpPr txBox="1"/>
          <p:nvPr/>
        </p:nvSpPr>
        <p:spPr>
          <a:xfrm>
            <a:off x="1061884" y="782287"/>
            <a:ext cx="3224981" cy="1754326"/>
          </a:xfrm>
          <a:prstGeom prst="rect">
            <a:avLst/>
          </a:prstGeom>
          <a:noFill/>
        </p:spPr>
        <p:txBody>
          <a:bodyPr wrap="square">
            <a:spAutoFit/>
          </a:bodyPr>
          <a:lstStyle/>
          <a:p>
            <a:r>
              <a:rPr lang="en-US" dirty="0"/>
              <a:t>TOOLS:</a:t>
            </a:r>
          </a:p>
          <a:p>
            <a:r>
              <a:rPr lang="en-US" dirty="0"/>
              <a:t>  </a:t>
            </a:r>
            <a:r>
              <a:rPr lang="en-US" dirty="0" err="1"/>
              <a:t>get_attendance</a:t>
            </a:r>
            <a:r>
              <a:rPr lang="en-US" dirty="0"/>
              <a:t>()</a:t>
            </a:r>
          </a:p>
          <a:p>
            <a:r>
              <a:rPr lang="en-US" dirty="0"/>
              <a:t>  </a:t>
            </a:r>
            <a:r>
              <a:rPr lang="en-US" dirty="0" err="1"/>
              <a:t>get_marks</a:t>
            </a:r>
            <a:r>
              <a:rPr lang="en-US" dirty="0"/>
              <a:t>()</a:t>
            </a:r>
          </a:p>
          <a:p>
            <a:r>
              <a:rPr lang="en-US" dirty="0"/>
              <a:t>  </a:t>
            </a:r>
            <a:r>
              <a:rPr lang="en-US" dirty="0" err="1"/>
              <a:t>find_classroom</a:t>
            </a:r>
            <a:r>
              <a:rPr lang="en-US" dirty="0"/>
              <a:t>()</a:t>
            </a:r>
          </a:p>
          <a:p>
            <a:endParaRPr lang="en-US" dirty="0"/>
          </a:p>
          <a:p>
            <a:endParaRPr lang="en-US" dirty="0"/>
          </a:p>
        </p:txBody>
      </p:sp>
      <p:sp>
        <p:nvSpPr>
          <p:cNvPr id="6" name="TextBox 5">
            <a:extLst>
              <a:ext uri="{FF2B5EF4-FFF2-40B4-BE49-F238E27FC236}">
                <a16:creationId xmlns:a16="http://schemas.microsoft.com/office/drawing/2014/main" id="{17A632F7-33AC-D32F-4F51-B05D23CD1276}"/>
              </a:ext>
            </a:extLst>
          </p:cNvPr>
          <p:cNvSpPr txBox="1"/>
          <p:nvPr/>
        </p:nvSpPr>
        <p:spPr>
          <a:xfrm>
            <a:off x="8288594" y="983677"/>
            <a:ext cx="6096000" cy="923330"/>
          </a:xfrm>
          <a:prstGeom prst="rect">
            <a:avLst/>
          </a:prstGeom>
          <a:noFill/>
        </p:spPr>
        <p:txBody>
          <a:bodyPr wrap="square">
            <a:spAutoFit/>
          </a:bodyPr>
          <a:lstStyle/>
          <a:p>
            <a:r>
              <a:rPr lang="en-US" dirty="0"/>
              <a:t>PROMPTS:</a:t>
            </a:r>
          </a:p>
          <a:p>
            <a:r>
              <a:rPr lang="en-US" dirty="0"/>
              <a:t>  "Explain my timetable"</a:t>
            </a:r>
          </a:p>
          <a:p>
            <a:r>
              <a:rPr lang="en-US" dirty="0"/>
              <a:t>  "Summarize my course information"</a:t>
            </a:r>
          </a:p>
        </p:txBody>
      </p:sp>
      <p:sp>
        <p:nvSpPr>
          <p:cNvPr id="9" name="TextBox 8">
            <a:extLst>
              <a:ext uri="{FF2B5EF4-FFF2-40B4-BE49-F238E27FC236}">
                <a16:creationId xmlns:a16="http://schemas.microsoft.com/office/drawing/2014/main" id="{9485490A-D372-0A6B-43EB-E093B3B3EB5F}"/>
              </a:ext>
            </a:extLst>
          </p:cNvPr>
          <p:cNvSpPr txBox="1"/>
          <p:nvPr/>
        </p:nvSpPr>
        <p:spPr>
          <a:xfrm>
            <a:off x="4534438" y="983677"/>
            <a:ext cx="7192296" cy="1200329"/>
          </a:xfrm>
          <a:prstGeom prst="rect">
            <a:avLst/>
          </a:prstGeom>
          <a:noFill/>
        </p:spPr>
        <p:txBody>
          <a:bodyPr wrap="square">
            <a:spAutoFit/>
          </a:bodyPr>
          <a:lstStyle/>
          <a:p>
            <a:r>
              <a:rPr lang="fr-FR" dirty="0"/>
              <a:t>RESOURCES:</a:t>
            </a:r>
          </a:p>
          <a:p>
            <a:r>
              <a:rPr lang="fr-FR" dirty="0"/>
              <a:t>  </a:t>
            </a:r>
            <a:r>
              <a:rPr lang="fr-FR" dirty="0" err="1"/>
              <a:t>timetable</a:t>
            </a:r>
            <a:endParaRPr lang="fr-FR" dirty="0"/>
          </a:p>
          <a:p>
            <a:r>
              <a:rPr lang="fr-FR" dirty="0"/>
              <a:t>  course information</a:t>
            </a:r>
          </a:p>
          <a:p>
            <a:r>
              <a:rPr lang="fr-FR" dirty="0"/>
              <a:t>  campus information</a:t>
            </a:r>
          </a:p>
        </p:txBody>
      </p:sp>
      <p:sp>
        <p:nvSpPr>
          <p:cNvPr id="10" name="TextBox 9">
            <a:extLst>
              <a:ext uri="{FF2B5EF4-FFF2-40B4-BE49-F238E27FC236}">
                <a16:creationId xmlns:a16="http://schemas.microsoft.com/office/drawing/2014/main" id="{6EF5C413-7372-BA58-AEB6-5C305BAF84AB}"/>
              </a:ext>
            </a:extLst>
          </p:cNvPr>
          <p:cNvSpPr txBox="1"/>
          <p:nvPr/>
        </p:nvSpPr>
        <p:spPr>
          <a:xfrm>
            <a:off x="894736" y="2351947"/>
            <a:ext cx="2238690" cy="369332"/>
          </a:xfrm>
          <a:prstGeom prst="rect">
            <a:avLst/>
          </a:prstGeom>
          <a:noFill/>
        </p:spPr>
        <p:txBody>
          <a:bodyPr wrap="none" rtlCol="0">
            <a:spAutoFit/>
          </a:bodyPr>
          <a:lstStyle/>
          <a:p>
            <a:r>
              <a:rPr lang="en-US" dirty="0"/>
              <a:t>STDIO AND HTTP/SSE:</a:t>
            </a:r>
            <a:endParaRPr lang="en-IN" dirty="0"/>
          </a:p>
        </p:txBody>
      </p:sp>
      <p:sp>
        <p:nvSpPr>
          <p:cNvPr id="11" name="TextBox 10">
            <a:extLst>
              <a:ext uri="{FF2B5EF4-FFF2-40B4-BE49-F238E27FC236}">
                <a16:creationId xmlns:a16="http://schemas.microsoft.com/office/drawing/2014/main" id="{30B39F6B-6D48-4017-F9E9-E63A9CA6D25D}"/>
              </a:ext>
            </a:extLst>
          </p:cNvPr>
          <p:cNvSpPr txBox="1"/>
          <p:nvPr/>
        </p:nvSpPr>
        <p:spPr>
          <a:xfrm>
            <a:off x="894736" y="2738003"/>
            <a:ext cx="4074350" cy="369332"/>
          </a:xfrm>
          <a:prstGeom prst="rect">
            <a:avLst/>
          </a:prstGeom>
          <a:noFill/>
        </p:spPr>
        <p:txBody>
          <a:bodyPr wrap="square" rtlCol="0">
            <a:spAutoFit/>
          </a:bodyPr>
          <a:lstStyle/>
          <a:p>
            <a:r>
              <a:rPr lang="en-IN" dirty="0"/>
              <a:t>How do Client ↔ Server communicate?</a:t>
            </a:r>
          </a:p>
        </p:txBody>
      </p:sp>
      <p:sp>
        <p:nvSpPr>
          <p:cNvPr id="13" name="TextBox 12">
            <a:extLst>
              <a:ext uri="{FF2B5EF4-FFF2-40B4-BE49-F238E27FC236}">
                <a16:creationId xmlns:a16="http://schemas.microsoft.com/office/drawing/2014/main" id="{E450B595-D799-8CAD-52C0-A019046C2D93}"/>
              </a:ext>
            </a:extLst>
          </p:cNvPr>
          <p:cNvSpPr txBox="1"/>
          <p:nvPr/>
        </p:nvSpPr>
        <p:spPr>
          <a:xfrm>
            <a:off x="894736" y="3275276"/>
            <a:ext cx="7192296" cy="923330"/>
          </a:xfrm>
          <a:prstGeom prst="rect">
            <a:avLst/>
          </a:prstGeom>
          <a:noFill/>
        </p:spPr>
        <p:txBody>
          <a:bodyPr wrap="square">
            <a:spAutoFit/>
          </a:bodyPr>
          <a:lstStyle/>
          <a:p>
            <a:r>
              <a:rPr lang="en-IN" dirty="0"/>
              <a:t>STDIO→ SAME computer</a:t>
            </a:r>
          </a:p>
          <a:p>
            <a:r>
              <a:rPr lang="en-IN" dirty="0"/>
              <a:t>              Client ↔ server.py</a:t>
            </a:r>
          </a:p>
          <a:p>
            <a:endParaRPr lang="en-IN" dirty="0"/>
          </a:p>
        </p:txBody>
      </p:sp>
      <p:sp>
        <p:nvSpPr>
          <p:cNvPr id="15" name="TextBox 14">
            <a:extLst>
              <a:ext uri="{FF2B5EF4-FFF2-40B4-BE49-F238E27FC236}">
                <a16:creationId xmlns:a16="http://schemas.microsoft.com/office/drawing/2014/main" id="{28583D11-B5C7-E6C7-5C99-6F4EA3A44B81}"/>
              </a:ext>
            </a:extLst>
          </p:cNvPr>
          <p:cNvSpPr txBox="1"/>
          <p:nvPr/>
        </p:nvSpPr>
        <p:spPr>
          <a:xfrm>
            <a:off x="5715001" y="4966710"/>
            <a:ext cx="3291348" cy="1754326"/>
          </a:xfrm>
          <a:prstGeom prst="rect">
            <a:avLst/>
          </a:prstGeom>
          <a:noFill/>
        </p:spPr>
        <p:txBody>
          <a:bodyPr wrap="square">
            <a:spAutoFit/>
          </a:bodyPr>
          <a:lstStyle/>
          <a:p>
            <a:r>
              <a:rPr lang="en-IN" dirty="0"/>
              <a:t>Docker Container</a:t>
            </a:r>
          </a:p>
          <a:p>
            <a:endParaRPr lang="en-IN" dirty="0"/>
          </a:p>
          <a:p>
            <a:r>
              <a:rPr lang="en-IN" dirty="0"/>
              <a:t>│ MCP Server                </a:t>
            </a:r>
          </a:p>
          <a:p>
            <a:r>
              <a:rPr lang="en-IN" dirty="0"/>
              <a:t>│ Python</a:t>
            </a:r>
          </a:p>
          <a:p>
            <a:r>
              <a:rPr lang="en-IN" dirty="0"/>
              <a:t>│ Dependencies    </a:t>
            </a:r>
          </a:p>
          <a:p>
            <a:r>
              <a:rPr lang="en-IN" dirty="0"/>
              <a:t>│ Configuration   </a:t>
            </a:r>
          </a:p>
        </p:txBody>
      </p:sp>
      <p:sp>
        <p:nvSpPr>
          <p:cNvPr id="16" name="TextBox 15">
            <a:extLst>
              <a:ext uri="{FF2B5EF4-FFF2-40B4-BE49-F238E27FC236}">
                <a16:creationId xmlns:a16="http://schemas.microsoft.com/office/drawing/2014/main" id="{38C7F6C4-AE3F-CF7D-B07E-8A94330FC897}"/>
              </a:ext>
            </a:extLst>
          </p:cNvPr>
          <p:cNvSpPr txBox="1"/>
          <p:nvPr/>
        </p:nvSpPr>
        <p:spPr>
          <a:xfrm>
            <a:off x="894736" y="4192245"/>
            <a:ext cx="901785" cy="369332"/>
          </a:xfrm>
          <a:prstGeom prst="rect">
            <a:avLst/>
          </a:prstGeom>
          <a:noFill/>
        </p:spPr>
        <p:txBody>
          <a:bodyPr wrap="none" rtlCol="0">
            <a:spAutoFit/>
          </a:bodyPr>
          <a:lstStyle/>
          <a:p>
            <a:r>
              <a:rPr lang="en-IN" dirty="0"/>
              <a:t>Docker:</a:t>
            </a:r>
          </a:p>
        </p:txBody>
      </p:sp>
      <p:sp>
        <p:nvSpPr>
          <p:cNvPr id="17" name="TextBox 16">
            <a:extLst>
              <a:ext uri="{FF2B5EF4-FFF2-40B4-BE49-F238E27FC236}">
                <a16:creationId xmlns:a16="http://schemas.microsoft.com/office/drawing/2014/main" id="{EB05FC1B-F691-CA57-5197-B82773D44D27}"/>
              </a:ext>
            </a:extLst>
          </p:cNvPr>
          <p:cNvSpPr txBox="1"/>
          <p:nvPr/>
        </p:nvSpPr>
        <p:spPr>
          <a:xfrm>
            <a:off x="894736" y="4643545"/>
            <a:ext cx="8908026" cy="646331"/>
          </a:xfrm>
          <a:prstGeom prst="rect">
            <a:avLst/>
          </a:prstGeom>
          <a:noFill/>
        </p:spPr>
        <p:txBody>
          <a:bodyPr wrap="square" rtlCol="0">
            <a:spAutoFit/>
          </a:bodyPr>
          <a:lstStyle/>
          <a:p>
            <a:r>
              <a:rPr lang="en-IN" dirty="0"/>
              <a:t>Docker packages your MCP server and its dependencies into a container, so it can run consistently on different machines.</a:t>
            </a:r>
          </a:p>
        </p:txBody>
      </p:sp>
    </p:spTree>
    <p:extLst>
      <p:ext uri="{BB962C8B-B14F-4D97-AF65-F5344CB8AC3E}">
        <p14:creationId xmlns:p14="http://schemas.microsoft.com/office/powerpoint/2010/main" val="1507336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MCP</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 kurakula</dc:creator>
  <cp:lastModifiedBy>ramyasri kurakula</cp:lastModifiedBy>
  <cp:revision>1</cp:revision>
  <dcterms:created xsi:type="dcterms:W3CDTF">2026-09-25T11:22:23Z</dcterms:created>
  <dcterms:modified xsi:type="dcterms:W3CDTF">2026-09-25T11:22:40Z</dcterms:modified>
</cp:coreProperties>
</file>